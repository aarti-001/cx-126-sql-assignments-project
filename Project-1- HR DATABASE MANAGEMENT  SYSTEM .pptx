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37f278e4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37f278e4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37f278e4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37f278e4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37f278e4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37f278e4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37f278e4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37f278e4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37f278e4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37f278e4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e37f278e4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e37f278e4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37f278e4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37f278e4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e37f278e40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e37f278e4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37f278e4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e37f278e4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37f278e4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37f278e4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37f278e40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37f278e40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37f278e4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37f278e4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37f278e4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37f278e4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37f278e4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37f278e4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37f278e4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37f278e4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37f278e4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37f278e4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37f278e4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37f278e4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37f278e4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37f278e4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37f278e4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37f278e4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458275"/>
            <a:ext cx="4053300" cy="674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sz="3000"/>
              <a:t>Introduction</a:t>
            </a:r>
            <a:r>
              <a:rPr lang="en-GB"/>
              <a:t> </a:t>
            </a:r>
            <a:endParaRPr/>
          </a:p>
        </p:txBody>
      </p:sp>
      <p:sp>
        <p:nvSpPr>
          <p:cNvPr id="55" name="Google Shape;55;p13"/>
          <p:cNvSpPr txBox="1"/>
          <p:nvPr>
            <p:ph idx="1" type="subTitle"/>
          </p:nvPr>
        </p:nvSpPr>
        <p:spPr>
          <a:xfrm>
            <a:off x="311700" y="1092075"/>
            <a:ext cx="8520600" cy="40059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A </a:t>
            </a:r>
            <a:r>
              <a:rPr b="1" lang="en-GB" sz="1100">
                <a:solidFill>
                  <a:schemeClr val="dk1"/>
                </a:solidFill>
              </a:rPr>
              <a:t>Human Resource (HR) Database Management System</a:t>
            </a:r>
            <a:r>
              <a:rPr lang="en-GB" sz="1100">
                <a:solidFill>
                  <a:schemeClr val="dk1"/>
                </a:solidFill>
              </a:rPr>
              <a:t> is designed to store, manage, and analyze employee-related information efficiently within an organization. It helps HR departments maintain structured records of employees, departments, job roles, salaries, dependents, and organizational hierarchy.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In this project, we use </a:t>
            </a:r>
            <a:r>
              <a:rPr b="1" lang="en-GB" sz="1100">
                <a:solidFill>
                  <a:schemeClr val="dk1"/>
                </a:solidFill>
              </a:rPr>
              <a:t>SQL and MS SQL Server</a:t>
            </a:r>
            <a:r>
              <a:rPr lang="en-GB" sz="1100">
                <a:solidFill>
                  <a:schemeClr val="dk1"/>
                </a:solidFill>
              </a:rPr>
              <a:t> to design and manage an HR database that allows efficient data retrieval, manipulation, and analysis. The system demonstrates how relational database concepts such as tables, joins, subqueries, grouping, and aggregate functions can be used to handle real-world HR data.</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The database includes multiple interconnected tables such as </a:t>
            </a:r>
            <a:r>
              <a:rPr b="1" lang="en-GB" sz="1100">
                <a:solidFill>
                  <a:schemeClr val="dk1"/>
                </a:solidFill>
              </a:rPr>
              <a:t>employees, departments, jobs, locations, countries, and regions</a:t>
            </a:r>
            <a:r>
              <a:rPr lang="en-GB" sz="1100">
                <a:solidFill>
                  <a:schemeClr val="dk1"/>
                </a:solidFill>
              </a:rPr>
              <a:t>. Using SQL queries, we perform operations like retrieving employee information, analyzing salary data, identifying department statistics, and understanding reporting structures within the organization.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This project aims to demonstrate practical database management skills and show how SQL queries can support decision-making in HR operations by transforming raw data into meaningful insights.</a:t>
            </a:r>
            <a:endParaRPr sz="1100">
              <a:solidFill>
                <a:schemeClr val="dk1"/>
              </a:solidFill>
            </a:endParaRPr>
          </a:p>
          <a:p>
            <a:pPr indent="0" lvl="0" marL="0" rtl="0" algn="ctr">
              <a:spcBef>
                <a:spcPts val="12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54825" y="201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Findings </a:t>
            </a:r>
            <a:endParaRPr/>
          </a:p>
        </p:txBody>
      </p:sp>
      <p:sp>
        <p:nvSpPr>
          <p:cNvPr id="61" name="Google Shape;61;p14"/>
          <p:cNvSpPr txBox="1"/>
          <p:nvPr>
            <p:ph idx="1" type="body"/>
          </p:nvPr>
        </p:nvSpPr>
        <p:spPr>
          <a:xfrm>
            <a:off x="-87750" y="773975"/>
            <a:ext cx="9572100" cy="4369500"/>
          </a:xfrm>
          <a:prstGeom prst="rect">
            <a:avLst/>
          </a:prstGeom>
        </p:spPr>
        <p:txBody>
          <a:bodyPr anchorCtr="0" anchor="t" bIns="91425" lIns="91425" spcFirstLastPara="1" rIns="91425" wrap="square" tIns="91425">
            <a:noAutofit/>
          </a:bodyPr>
          <a:lstStyle/>
          <a:p>
            <a:pPr indent="-298450" lvl="0" marL="457200" rtl="0" algn="l">
              <a:spcBef>
                <a:spcPts val="1200"/>
              </a:spcBef>
              <a:spcAft>
                <a:spcPts val="0"/>
              </a:spcAft>
              <a:buClr>
                <a:schemeClr val="dk1"/>
              </a:buClr>
              <a:buSzPts val="1100"/>
              <a:buAutoNum type="arabicPeriod"/>
            </a:pPr>
            <a:r>
              <a:rPr b="1" lang="en-GB" sz="1100">
                <a:solidFill>
                  <a:schemeClr val="dk1"/>
                </a:solidFill>
              </a:rPr>
              <a:t>Employee Distribution by Department</a:t>
            </a:r>
            <a:br>
              <a:rPr b="1" lang="en-GB" sz="1100">
                <a:solidFill>
                  <a:schemeClr val="dk1"/>
                </a:solidFill>
              </a:rPr>
            </a:br>
            <a:r>
              <a:rPr lang="en-GB" sz="1100">
                <a:solidFill>
                  <a:schemeClr val="dk1"/>
                </a:solidFill>
              </a:rPr>
              <a:t> The analysis showed how employees are distributed across different departments, helping identify departments with the highest and lowest workforce.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Salary Analysis</a:t>
            </a:r>
            <a:br>
              <a:rPr b="1" lang="en-GB" sz="1100">
                <a:solidFill>
                  <a:schemeClr val="dk1"/>
                </a:solidFill>
              </a:rPr>
            </a:br>
            <a:r>
              <a:rPr lang="en-GB" sz="1100">
                <a:solidFill>
                  <a:schemeClr val="dk1"/>
                </a:solidFill>
              </a:rPr>
              <a:t> By using aggregate functions such as </a:t>
            </a:r>
            <a:r>
              <a:rPr b="1" lang="en-GB" sz="1100">
                <a:solidFill>
                  <a:schemeClr val="dk1"/>
                </a:solidFill>
              </a:rPr>
              <a:t>AVG, MAX, and MIN</a:t>
            </a:r>
            <a:r>
              <a:rPr lang="en-GB" sz="1100">
                <a:solidFill>
                  <a:schemeClr val="dk1"/>
                </a:solidFill>
              </a:rPr>
              <a:t>, the system identifies salary trends, including the highest salary, lowest salary, and average salary within each department.</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Department Headcount</a:t>
            </a:r>
            <a:br>
              <a:rPr b="1" lang="en-GB" sz="1100">
                <a:solidFill>
                  <a:schemeClr val="dk1"/>
                </a:solidFill>
              </a:rPr>
            </a:br>
            <a:r>
              <a:rPr lang="en-GB" sz="1100">
                <a:solidFill>
                  <a:schemeClr val="dk1"/>
                </a:solidFill>
              </a:rPr>
              <a:t> The database queries revealed the number of employees working in each department, allowing HR to easily track department sizes and workforce allocation.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Manager–Employee Relationships</a:t>
            </a:r>
            <a:br>
              <a:rPr b="1" lang="en-GB" sz="1100">
                <a:solidFill>
                  <a:schemeClr val="dk1"/>
                </a:solidFill>
              </a:rPr>
            </a:br>
            <a:r>
              <a:rPr lang="en-GB" sz="1100">
                <a:solidFill>
                  <a:schemeClr val="dk1"/>
                </a:solidFill>
              </a:rPr>
              <a:t> The system helps identify managers and their direct reports, providing insights into the organizational hierarchy and reporting structure.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Employees with Dependents</a:t>
            </a:r>
            <a:br>
              <a:rPr b="1" lang="en-GB" sz="1100">
                <a:solidFill>
                  <a:schemeClr val="dk1"/>
                </a:solidFill>
              </a:rPr>
            </a:br>
            <a:r>
              <a:rPr lang="en-GB" sz="1100">
                <a:solidFill>
                  <a:schemeClr val="dk1"/>
                </a:solidFill>
              </a:rPr>
              <a:t> Using SQL queries, the system can determine which employees have dependents and which employees do not, helping HR manage employee benefits and family-related records.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Department Salary Expenses</a:t>
            </a:r>
            <a:br>
              <a:rPr b="1" lang="en-GB" sz="1100">
                <a:solidFill>
                  <a:schemeClr val="dk1"/>
                </a:solidFill>
              </a:rPr>
            </a:br>
            <a:r>
              <a:rPr lang="en-GB" sz="1100">
                <a:solidFill>
                  <a:schemeClr val="dk1"/>
                </a:solidFill>
              </a:rPr>
              <a:t> The total salary expenditure per department was calculated, which helps in understanding the budget allocation for each department.</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High and Low Salary Employees</a:t>
            </a:r>
            <a:br>
              <a:rPr b="1" lang="en-GB" sz="1100">
                <a:solidFill>
                  <a:schemeClr val="dk1"/>
                </a:solidFill>
              </a:rPr>
            </a:br>
            <a:r>
              <a:rPr lang="en-GB" sz="1100">
                <a:solidFill>
                  <a:schemeClr val="dk1"/>
                </a:solidFill>
              </a:rPr>
              <a:t> Employees were categorized based on salary levels (Low, Average, High), enabling quick identification of compensation ranges within the organization.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Employee Location Analysis</a:t>
            </a:r>
            <a:br>
              <a:rPr b="1" lang="en-GB" sz="1100">
                <a:solidFill>
                  <a:schemeClr val="dk1"/>
                </a:solidFill>
              </a:rPr>
            </a:br>
            <a:r>
              <a:rPr lang="en-GB" sz="1100">
                <a:solidFill>
                  <a:schemeClr val="dk1"/>
                </a:solidFill>
              </a:rPr>
              <a:t> By using subqueries, employees working in specific locations (such as location ID 1700) were identified, helping in geographical workforce analysis.</a:t>
            </a:r>
            <a:endParaRPr sz="1100">
              <a:solidFill>
                <a:schemeClr val="dk1"/>
              </a:solidFill>
            </a:endParaRPr>
          </a:p>
          <a:p>
            <a:pPr indent="0" lvl="0" marL="0" rtl="0" algn="l">
              <a:spcBef>
                <a:spcPts val="1200"/>
              </a:spcBef>
              <a:spcAft>
                <a:spcPts val="1200"/>
              </a:spcAft>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214200" y="55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Actionable Insights </a:t>
            </a:r>
            <a:endParaRPr/>
          </a:p>
        </p:txBody>
      </p:sp>
      <p:sp>
        <p:nvSpPr>
          <p:cNvPr id="67" name="Google Shape;67;p15"/>
          <p:cNvSpPr txBox="1"/>
          <p:nvPr>
            <p:ph idx="1" type="body"/>
          </p:nvPr>
        </p:nvSpPr>
        <p:spPr>
          <a:xfrm>
            <a:off x="107250" y="547675"/>
            <a:ext cx="8725200" cy="44853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AutoNum type="arabicPeriod"/>
            </a:pPr>
            <a:r>
              <a:rPr b="1" lang="en-GB" sz="1100">
                <a:solidFill>
                  <a:schemeClr val="dk1"/>
                </a:solidFill>
              </a:rPr>
              <a:t>Optimize Workforce Allocation</a:t>
            </a:r>
            <a:br>
              <a:rPr b="1" lang="en-GB" sz="1100">
                <a:solidFill>
                  <a:schemeClr val="dk1"/>
                </a:solidFill>
              </a:rPr>
            </a:br>
            <a:r>
              <a:rPr lang="en-GB" sz="1100">
                <a:solidFill>
                  <a:schemeClr val="dk1"/>
                </a:solidFill>
              </a:rPr>
              <a:t> Departments with very high or very low employee counts should be reviewed. HR can redistribute resources or recruit additional staff to maintain balanced workloads.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Salary Structure Improvement</a:t>
            </a:r>
            <a:br>
              <a:rPr b="1" lang="en-GB" sz="1100">
                <a:solidFill>
                  <a:schemeClr val="dk1"/>
                </a:solidFill>
              </a:rPr>
            </a:br>
            <a:r>
              <a:rPr lang="en-GB" sz="1100">
                <a:solidFill>
                  <a:schemeClr val="dk1"/>
                </a:solidFill>
              </a:rPr>
              <a:t> By analyzing minimum, maximum, and average salaries across departments, HR can ensure fair compensation and identify employees who may require salary adjustments.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Strengthen Organizational Hierarchy</a:t>
            </a:r>
            <a:br>
              <a:rPr b="1" lang="en-GB" sz="1100">
                <a:solidFill>
                  <a:schemeClr val="dk1"/>
                </a:solidFill>
              </a:rPr>
            </a:br>
            <a:r>
              <a:rPr lang="en-GB" sz="1100">
                <a:solidFill>
                  <a:schemeClr val="dk1"/>
                </a:solidFill>
              </a:rPr>
              <a:t> Understanding manager–employee relationships helps HR improve reporting structures and ensure that managers are not overloaded with too many direct reports.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Employee Benefits Planning</a:t>
            </a:r>
            <a:br>
              <a:rPr b="1" lang="en-GB" sz="1100">
                <a:solidFill>
                  <a:schemeClr val="dk1"/>
                </a:solidFill>
              </a:rPr>
            </a:br>
            <a:r>
              <a:rPr lang="en-GB" sz="1100">
                <a:solidFill>
                  <a:schemeClr val="dk1"/>
                </a:solidFill>
              </a:rPr>
              <a:t> Identifying employees with dependents helps HR design better benefit programs such as health insurance, family support policies, and financial assistance.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Budget Management</a:t>
            </a:r>
            <a:br>
              <a:rPr b="1" lang="en-GB" sz="1100">
                <a:solidFill>
                  <a:schemeClr val="dk1"/>
                </a:solidFill>
              </a:rPr>
            </a:br>
            <a:r>
              <a:rPr lang="en-GB" sz="1100">
                <a:solidFill>
                  <a:schemeClr val="dk1"/>
                </a:solidFill>
              </a:rPr>
              <a:t> Monitoring total salary expenses by department helps management control payroll costs and allocate budgets more effectively.</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Location-Based Workforce Planning</a:t>
            </a:r>
            <a:br>
              <a:rPr b="1" lang="en-GB" sz="1100">
                <a:solidFill>
                  <a:schemeClr val="dk1"/>
                </a:solidFill>
              </a:rPr>
            </a:br>
            <a:r>
              <a:rPr lang="en-GB" sz="1100">
                <a:solidFill>
                  <a:schemeClr val="dk1"/>
                </a:solidFill>
              </a:rPr>
              <a:t> Analyzing employees by location allows the organization to plan expansion, relocation, or resource distribution based on workforce concentration.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Performance and Compensation Review</a:t>
            </a:r>
            <a:br>
              <a:rPr b="1" lang="en-GB" sz="1100">
                <a:solidFill>
                  <a:schemeClr val="dk1"/>
                </a:solidFill>
              </a:rPr>
            </a:br>
            <a:r>
              <a:rPr lang="en-GB" sz="1100">
                <a:solidFill>
                  <a:schemeClr val="dk1"/>
                </a:solidFill>
              </a:rPr>
              <a:t> Categorizing employees based on salary levels (Low, Average, High) helps HR identify employees who may need performance reviews, promotions, or salary revisions.</a:t>
            </a:r>
            <a:endParaRPr sz="1100">
              <a:solidFill>
                <a:schemeClr val="dk1"/>
              </a:solidFill>
            </a:endParaRPr>
          </a:p>
          <a:p>
            <a:pPr indent="0" lvl="0" marL="45720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237275" y="101550"/>
            <a:ext cx="8580600" cy="494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TASK 1: </a:t>
            </a:r>
            <a:br>
              <a:rPr lang="en-GB" sz="1000">
                <a:solidFill>
                  <a:schemeClr val="dk2"/>
                </a:solidFill>
              </a:rPr>
            </a:br>
            <a:r>
              <a:rPr lang="en-GB" sz="1000">
                <a:solidFill>
                  <a:schemeClr val="dk2"/>
                </a:solidFill>
              </a:rPr>
              <a:t>1)WRITE A QUERY FOR SELECT STATEMENTS </a:t>
            </a:r>
            <a:r>
              <a:rPr lang="en-GB" sz="1800">
                <a:solidFill>
                  <a:schemeClr val="dk2"/>
                </a:solidFill>
              </a:rPr>
              <a:t>:- </a:t>
            </a:r>
            <a:br>
              <a:rPr lang="en-GB" sz="1800">
                <a:solidFill>
                  <a:schemeClr val="dk2"/>
                </a:solidFill>
              </a:rPr>
            </a:br>
            <a:r>
              <a:rPr lang="en-GB" sz="1100">
                <a:solidFill>
                  <a:schemeClr val="dk2"/>
                </a:solidFill>
              </a:rPr>
              <a:t>A. To get data from all the rows and columns in the employees table:</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200">
              <a:solidFill>
                <a:schemeClr val="dk2"/>
              </a:solidFill>
            </a:endParaRPr>
          </a:p>
        </p:txBody>
      </p:sp>
      <p:pic>
        <p:nvPicPr>
          <p:cNvPr id="73" name="Google Shape;73;p16" title="Screenshot 2026-05-20 173516.png"/>
          <p:cNvPicPr preferRelativeResize="0"/>
          <p:nvPr/>
        </p:nvPicPr>
        <p:blipFill>
          <a:blip r:embed="rId3">
            <a:alphaModFix/>
          </a:blip>
          <a:stretch>
            <a:fillRect/>
          </a:stretch>
        </p:blipFill>
        <p:spPr>
          <a:xfrm>
            <a:off x="196650" y="911875"/>
            <a:ext cx="5403499" cy="2634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107250" y="182025"/>
            <a:ext cx="9036900" cy="47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 </a:t>
            </a:r>
            <a:r>
              <a:rPr lang="en-GB" sz="1200">
                <a:solidFill>
                  <a:schemeClr val="dk2"/>
                </a:solidFill>
              </a:rPr>
              <a:t>B. select data from the employee id, first name, last name, and hire date of all rows in the employees table: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Clr>
                <a:schemeClr val="dk1"/>
              </a:buClr>
              <a:buSzPts val="1100"/>
              <a:buFont typeface="Arial"/>
              <a:buNone/>
            </a:pPr>
            <a:r>
              <a:rPr lang="en-GB" sz="1200">
                <a:solidFill>
                  <a:schemeClr val="dk2"/>
                </a:solidFill>
              </a:rPr>
              <a:t>C. to get the first name, last name, salary, and new salary: </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79" name="Google Shape;79;p17" title="Screenshot 2026-05-20 173555.png"/>
          <p:cNvPicPr preferRelativeResize="0"/>
          <p:nvPr/>
        </p:nvPicPr>
        <p:blipFill>
          <a:blip r:embed="rId3">
            <a:alphaModFix/>
          </a:blip>
          <a:stretch>
            <a:fillRect/>
          </a:stretch>
        </p:blipFill>
        <p:spPr>
          <a:xfrm>
            <a:off x="359150" y="595325"/>
            <a:ext cx="4680350" cy="1943100"/>
          </a:xfrm>
          <a:prstGeom prst="rect">
            <a:avLst/>
          </a:prstGeom>
          <a:noFill/>
          <a:ln>
            <a:noFill/>
          </a:ln>
        </p:spPr>
      </p:pic>
      <p:pic>
        <p:nvPicPr>
          <p:cNvPr id="80" name="Google Shape;80;p17" title="Screenshot 2026-05-20 173627.png"/>
          <p:cNvPicPr preferRelativeResize="0"/>
          <p:nvPr/>
        </p:nvPicPr>
        <p:blipFill>
          <a:blip r:embed="rId4">
            <a:alphaModFix/>
          </a:blip>
          <a:stretch>
            <a:fillRect/>
          </a:stretch>
        </p:blipFill>
        <p:spPr>
          <a:xfrm>
            <a:off x="204775" y="2790325"/>
            <a:ext cx="5216625" cy="2185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nvSpPr>
        <p:spPr>
          <a:xfrm>
            <a:off x="82875" y="206400"/>
            <a:ext cx="8979000" cy="48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D. Increase the salary two times and named as New_SALARY from employees table</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Clr>
                <a:schemeClr val="dk1"/>
              </a:buClr>
              <a:buSzPts val="1100"/>
              <a:buFont typeface="Arial"/>
              <a:buNone/>
            </a:pPr>
            <a:r>
              <a:t/>
            </a:r>
            <a:endParaRPr sz="1200">
              <a:solidFill>
                <a:schemeClr val="dk2"/>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86" name="Google Shape;86;p18" title="Screenshot 2026-05-20 173727.png"/>
          <p:cNvPicPr preferRelativeResize="0"/>
          <p:nvPr/>
        </p:nvPicPr>
        <p:blipFill>
          <a:blip r:embed="rId3">
            <a:alphaModFix/>
          </a:blip>
          <a:stretch>
            <a:fillRect/>
          </a:stretch>
        </p:blipFill>
        <p:spPr>
          <a:xfrm>
            <a:off x="203350" y="521350"/>
            <a:ext cx="3072900" cy="2446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nvSpPr>
        <p:spPr>
          <a:xfrm>
            <a:off x="196650" y="76375"/>
            <a:ext cx="8783700" cy="49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100">
                <a:solidFill>
                  <a:schemeClr val="dk2"/>
                </a:solidFill>
              </a:rPr>
              <a:t>2)WRITE A QUERY FOR ORDER BY STATEMENTS :- </a:t>
            </a:r>
            <a:endParaRPr sz="1100">
              <a:solidFill>
                <a:schemeClr val="dk2"/>
              </a:solidFill>
            </a:endParaRPr>
          </a:p>
          <a:p>
            <a:pPr indent="0" lvl="0" marL="0" rtl="0" algn="l">
              <a:spcBef>
                <a:spcPts val="0"/>
              </a:spcBef>
              <a:spcAft>
                <a:spcPts val="0"/>
              </a:spcAft>
              <a:buNone/>
            </a:pPr>
            <a:r>
              <a:rPr lang="en-GB" sz="1100">
                <a:solidFill>
                  <a:schemeClr val="dk2"/>
                </a:solidFill>
              </a:rPr>
              <a:t>Syntax of ORDER BY Statements:-  </a:t>
            </a:r>
            <a:endParaRPr sz="1100">
              <a:solidFill>
                <a:schemeClr val="dk2"/>
              </a:solidFill>
            </a:endParaRPr>
          </a:p>
          <a:p>
            <a:pPr indent="0" lvl="0" marL="0" rtl="0" algn="l">
              <a:spcBef>
                <a:spcPts val="0"/>
              </a:spcBef>
              <a:spcAft>
                <a:spcPts val="0"/>
              </a:spcAft>
              <a:buNone/>
            </a:pPr>
            <a:r>
              <a:rPr lang="en-GB" sz="1100">
                <a:solidFill>
                  <a:schemeClr val="dk2"/>
                </a:solidFill>
              </a:rPr>
              <a:t>A. returns the data from the employee id, first name, last name, hire date, and salary column of the employees table</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a:solidFill>
                  <a:schemeClr val="dk2"/>
                </a:solidFill>
              </a:rPr>
              <a:t>B. to sort employees by first names in alphabetical order: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100">
              <a:solidFill>
                <a:schemeClr val="dk2"/>
              </a:solidFill>
            </a:endParaRPr>
          </a:p>
        </p:txBody>
      </p:sp>
      <p:pic>
        <p:nvPicPr>
          <p:cNvPr id="92" name="Google Shape;92;p19" title="Screenshot 2026-05-20 174703.png"/>
          <p:cNvPicPr preferRelativeResize="0"/>
          <p:nvPr/>
        </p:nvPicPr>
        <p:blipFill>
          <a:blip r:embed="rId3">
            <a:alphaModFix/>
          </a:blip>
          <a:stretch>
            <a:fillRect/>
          </a:stretch>
        </p:blipFill>
        <p:spPr>
          <a:xfrm>
            <a:off x="887025" y="748100"/>
            <a:ext cx="5127550" cy="2139725"/>
          </a:xfrm>
          <a:prstGeom prst="rect">
            <a:avLst/>
          </a:prstGeom>
          <a:noFill/>
          <a:ln>
            <a:noFill/>
          </a:ln>
        </p:spPr>
      </p:pic>
      <p:pic>
        <p:nvPicPr>
          <p:cNvPr id="93" name="Google Shape;93;p19" title="Screenshot 2026-05-20 174845.png"/>
          <p:cNvPicPr preferRelativeResize="0"/>
          <p:nvPr/>
        </p:nvPicPr>
        <p:blipFill>
          <a:blip r:embed="rId4">
            <a:alphaModFix/>
          </a:blip>
          <a:stretch>
            <a:fillRect/>
          </a:stretch>
        </p:blipFill>
        <p:spPr>
          <a:xfrm>
            <a:off x="276900" y="3192025"/>
            <a:ext cx="4900725" cy="2033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nvSpPr>
        <p:spPr>
          <a:xfrm>
            <a:off x="245400" y="100750"/>
            <a:ext cx="8898600" cy="49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C. to sort the employees by the first name in ascending order and the last name in descending order:</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a:solidFill>
                  <a:schemeClr val="dk2"/>
                </a:solidFill>
              </a:rPr>
              <a:t> D. to sort employees by salary from high to low: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1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99" name="Google Shape;99;p20" title="Screenshot 2026-05-20 174918.png"/>
          <p:cNvPicPr preferRelativeResize="0"/>
          <p:nvPr/>
        </p:nvPicPr>
        <p:blipFill>
          <a:blip r:embed="rId3">
            <a:alphaModFix/>
          </a:blip>
          <a:stretch>
            <a:fillRect/>
          </a:stretch>
        </p:blipFill>
        <p:spPr>
          <a:xfrm>
            <a:off x="331925" y="428550"/>
            <a:ext cx="3862500" cy="2503450"/>
          </a:xfrm>
          <a:prstGeom prst="rect">
            <a:avLst/>
          </a:prstGeom>
          <a:noFill/>
          <a:ln>
            <a:noFill/>
          </a:ln>
        </p:spPr>
      </p:pic>
      <p:pic>
        <p:nvPicPr>
          <p:cNvPr id="100" name="Google Shape;100;p20" title="Screenshot 2026-05-20 174954.png"/>
          <p:cNvPicPr preferRelativeResize="0"/>
          <p:nvPr/>
        </p:nvPicPr>
        <p:blipFill>
          <a:blip r:embed="rId4">
            <a:alphaModFix/>
          </a:blip>
          <a:stretch>
            <a:fillRect/>
          </a:stretch>
        </p:blipFill>
        <p:spPr>
          <a:xfrm>
            <a:off x="245400" y="3230325"/>
            <a:ext cx="4014025" cy="1913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nvSpPr>
        <p:spPr>
          <a:xfrm>
            <a:off x="318525" y="125125"/>
            <a:ext cx="8727000" cy="48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E. to sort the employees by values in the hire_date column from: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rPr lang="en-GB" sz="1100">
                <a:solidFill>
                  <a:schemeClr val="dk2"/>
                </a:solidFill>
              </a:rPr>
              <a:t>F. sort the employees by the hire dates in descending order:  </a:t>
            </a:r>
            <a:endParaRPr sz="1800">
              <a:solidFill>
                <a:schemeClr val="dk2"/>
              </a:solidFill>
            </a:endParaRPr>
          </a:p>
        </p:txBody>
      </p:sp>
      <p:pic>
        <p:nvPicPr>
          <p:cNvPr id="106" name="Google Shape;106;p21" title="Screenshot 2026-05-20 175031.png"/>
          <p:cNvPicPr preferRelativeResize="0"/>
          <p:nvPr/>
        </p:nvPicPr>
        <p:blipFill>
          <a:blip r:embed="rId3">
            <a:alphaModFix/>
          </a:blip>
          <a:stretch>
            <a:fillRect/>
          </a:stretch>
        </p:blipFill>
        <p:spPr>
          <a:xfrm>
            <a:off x="318525" y="465475"/>
            <a:ext cx="5029750" cy="2106275"/>
          </a:xfrm>
          <a:prstGeom prst="rect">
            <a:avLst/>
          </a:prstGeom>
          <a:noFill/>
          <a:ln>
            <a:noFill/>
          </a:ln>
        </p:spPr>
      </p:pic>
      <p:pic>
        <p:nvPicPr>
          <p:cNvPr id="107" name="Google Shape;107;p21" title="Screenshot 2026-05-20 175104.png"/>
          <p:cNvPicPr preferRelativeResize="0"/>
          <p:nvPr/>
        </p:nvPicPr>
        <p:blipFill>
          <a:blip r:embed="rId4">
            <a:alphaModFix/>
          </a:blip>
          <a:stretch>
            <a:fillRect/>
          </a:stretch>
        </p:blipFill>
        <p:spPr>
          <a:xfrm>
            <a:off x="318525" y="2741575"/>
            <a:ext cx="5029750" cy="2218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nvSpPr>
        <p:spPr>
          <a:xfrm>
            <a:off x="253525" y="100750"/>
            <a:ext cx="8718900" cy="49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3)WRITE A QUERY FOR DISTINCT STATEMENTS :- Syntax of DISTINCT Statements:- </a:t>
            </a:r>
            <a:endParaRPr sz="1100">
              <a:solidFill>
                <a:schemeClr val="dk2"/>
              </a:solidFill>
            </a:endParaRPr>
          </a:p>
          <a:p>
            <a:pPr indent="0" lvl="0" marL="0" rtl="0" algn="l">
              <a:spcBef>
                <a:spcPts val="0"/>
              </a:spcBef>
              <a:spcAft>
                <a:spcPts val="0"/>
              </a:spcAft>
              <a:buNone/>
            </a:pPr>
            <a:r>
              <a:rPr lang="en-GB" sz="1100">
                <a:solidFill>
                  <a:schemeClr val="dk2"/>
                </a:solidFill>
              </a:rPr>
              <a:t>A. selects the salary data from the salary column of the employees table and sorts them from high to low:</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a:solidFill>
                  <a:schemeClr val="dk2"/>
                </a:solidFill>
              </a:rPr>
              <a:t> B. select unique values from the salary column of the employees table: C. selects the job id and salary from the employees table: D. to remove the duplicate values in job id and salary: E. returns the distinct phone numbers of employees: </a:t>
            </a:r>
            <a:endParaRPr sz="1100">
              <a:solidFill>
                <a:schemeClr val="dk2"/>
              </a:solidFill>
            </a:endParaRPr>
          </a:p>
          <a:p>
            <a:pPr indent="0" lvl="0" marL="0" rtl="0" algn="l">
              <a:spcBef>
                <a:spcPts val="0"/>
              </a:spcBef>
              <a:spcAft>
                <a:spcPts val="0"/>
              </a:spcAft>
              <a:buNone/>
            </a:pPr>
            <a:r>
              <a:t/>
            </a:r>
            <a:endParaRPr sz="1100">
              <a:solidFill>
                <a:schemeClr val="dk2"/>
              </a:solidFill>
            </a:endParaRPr>
          </a:p>
        </p:txBody>
      </p:sp>
      <p:pic>
        <p:nvPicPr>
          <p:cNvPr id="113" name="Google Shape;113;p22" title="Screenshot 2026-05-20 182401.png"/>
          <p:cNvPicPr preferRelativeResize="0"/>
          <p:nvPr/>
        </p:nvPicPr>
        <p:blipFill>
          <a:blip r:embed="rId3">
            <a:alphaModFix/>
          </a:blip>
          <a:stretch>
            <a:fillRect/>
          </a:stretch>
        </p:blipFill>
        <p:spPr>
          <a:xfrm>
            <a:off x="308500" y="574300"/>
            <a:ext cx="2780850" cy="1997450"/>
          </a:xfrm>
          <a:prstGeom prst="rect">
            <a:avLst/>
          </a:prstGeom>
          <a:noFill/>
          <a:ln>
            <a:noFill/>
          </a:ln>
        </p:spPr>
      </p:pic>
      <p:pic>
        <p:nvPicPr>
          <p:cNvPr id="114" name="Google Shape;114;p22" title="Screenshot 2026-05-20 182429.png"/>
          <p:cNvPicPr preferRelativeResize="0"/>
          <p:nvPr/>
        </p:nvPicPr>
        <p:blipFill>
          <a:blip r:embed="rId4">
            <a:alphaModFix/>
          </a:blip>
          <a:stretch>
            <a:fillRect/>
          </a:stretch>
        </p:blipFill>
        <p:spPr>
          <a:xfrm>
            <a:off x="383575" y="2928375"/>
            <a:ext cx="2388875" cy="2104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nvSpPr>
        <p:spPr>
          <a:xfrm>
            <a:off x="351025" y="222650"/>
            <a:ext cx="8466900" cy="49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C. selects the job id and salary from the employees table</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GB" sz="1200">
                <a:solidFill>
                  <a:schemeClr val="dk2"/>
                </a:solidFill>
              </a:rPr>
              <a:t>: D. to remove the duplicate values in job id and salary: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pic>
        <p:nvPicPr>
          <p:cNvPr id="120" name="Google Shape;120;p23" title="Screenshot 2026-05-20 182501.png"/>
          <p:cNvPicPr preferRelativeResize="0"/>
          <p:nvPr/>
        </p:nvPicPr>
        <p:blipFill>
          <a:blip r:embed="rId3">
            <a:alphaModFix/>
          </a:blip>
          <a:stretch>
            <a:fillRect/>
          </a:stretch>
        </p:blipFill>
        <p:spPr>
          <a:xfrm>
            <a:off x="405500" y="547125"/>
            <a:ext cx="2748850" cy="2259450"/>
          </a:xfrm>
          <a:prstGeom prst="rect">
            <a:avLst/>
          </a:prstGeom>
          <a:noFill/>
          <a:ln>
            <a:noFill/>
          </a:ln>
        </p:spPr>
      </p:pic>
      <p:pic>
        <p:nvPicPr>
          <p:cNvPr id="121" name="Google Shape;121;p23" title="Screenshot 2026-05-20 182530.png"/>
          <p:cNvPicPr preferRelativeResize="0"/>
          <p:nvPr/>
        </p:nvPicPr>
        <p:blipFill>
          <a:blip r:embed="rId4">
            <a:alphaModFix/>
          </a:blip>
          <a:stretch>
            <a:fillRect/>
          </a:stretch>
        </p:blipFill>
        <p:spPr>
          <a:xfrm>
            <a:off x="629350" y="3115350"/>
            <a:ext cx="2013100" cy="1988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nvSpPr>
        <p:spPr>
          <a:xfrm>
            <a:off x="367200" y="0"/>
            <a:ext cx="8776800" cy="48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E. returns the distinct phone numbers of employees:</a:t>
            </a:r>
            <a:endParaRPr sz="1200">
              <a:solidFill>
                <a:schemeClr val="dk2"/>
              </a:solidFill>
            </a:endParaRPr>
          </a:p>
          <a:p>
            <a:pPr indent="0" lvl="0" marL="0" rtl="0" algn="l">
              <a:spcBef>
                <a:spcPts val="0"/>
              </a:spcBef>
              <a:spcAft>
                <a:spcPts val="0"/>
              </a:spcAft>
              <a:buClr>
                <a:schemeClr val="dk1"/>
              </a:buClr>
              <a:buSzPts val="1100"/>
              <a:buFont typeface="Arial"/>
              <a:buNone/>
            </a:pPr>
            <a:r>
              <a:rPr lang="en-GB" sz="1200">
                <a:solidFill>
                  <a:schemeClr val="dk2"/>
                </a:solidFill>
              </a:rPr>
              <a:t> </a:t>
            </a:r>
            <a:endParaRPr sz="1800">
              <a:solidFill>
                <a:schemeClr val="dk2"/>
              </a:solidFill>
            </a:endParaRPr>
          </a:p>
        </p:txBody>
      </p:sp>
      <p:pic>
        <p:nvPicPr>
          <p:cNvPr id="127" name="Google Shape;127;p24" title="Screenshot 2026-05-20 182600.png"/>
          <p:cNvPicPr preferRelativeResize="0"/>
          <p:nvPr/>
        </p:nvPicPr>
        <p:blipFill>
          <a:blip r:embed="rId3">
            <a:alphaModFix/>
          </a:blip>
          <a:stretch>
            <a:fillRect/>
          </a:stretch>
        </p:blipFill>
        <p:spPr>
          <a:xfrm>
            <a:off x="492363" y="417150"/>
            <a:ext cx="2828925" cy="4000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nvSpPr>
        <p:spPr>
          <a:xfrm>
            <a:off x="302275" y="190150"/>
            <a:ext cx="8710500" cy="4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4)WRITE A QUERY FOR TOP N STATEMENTS :- Syntax of TOP N Statements(N=Will be any nos) </a:t>
            </a:r>
            <a:endParaRPr sz="1100">
              <a:solidFill>
                <a:schemeClr val="dk2"/>
              </a:solidFill>
            </a:endParaRPr>
          </a:p>
          <a:p>
            <a:pPr indent="0" lvl="0" marL="0" rtl="0" algn="l">
              <a:spcBef>
                <a:spcPts val="0"/>
              </a:spcBef>
              <a:spcAft>
                <a:spcPts val="0"/>
              </a:spcAft>
              <a:buNone/>
            </a:pPr>
            <a:r>
              <a:rPr lang="en-GB" sz="1100">
                <a:solidFill>
                  <a:schemeClr val="dk2"/>
                </a:solidFill>
              </a:rPr>
              <a:t>A. returns all rows in the employees table sorted by the first_name column.</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a:solidFill>
                  <a:schemeClr val="dk2"/>
                </a:solidFill>
              </a:rPr>
              <a:t>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rPr lang="en-GB" sz="1100">
                <a:solidFill>
                  <a:schemeClr val="dk2"/>
                </a:solidFill>
              </a:rPr>
              <a:t>B. to return the first 5 rows in the result set returned by the SELECT clause: </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p:txBody>
      </p:sp>
      <p:pic>
        <p:nvPicPr>
          <p:cNvPr id="133" name="Google Shape;133;p25" title="Screenshot 2026-05-20 185034.png"/>
          <p:cNvPicPr preferRelativeResize="0"/>
          <p:nvPr/>
        </p:nvPicPr>
        <p:blipFill>
          <a:blip r:embed="rId3">
            <a:alphaModFix/>
          </a:blip>
          <a:stretch>
            <a:fillRect/>
          </a:stretch>
        </p:blipFill>
        <p:spPr>
          <a:xfrm>
            <a:off x="454425" y="690775"/>
            <a:ext cx="4081275" cy="2335200"/>
          </a:xfrm>
          <a:prstGeom prst="rect">
            <a:avLst/>
          </a:prstGeom>
          <a:noFill/>
          <a:ln>
            <a:noFill/>
          </a:ln>
        </p:spPr>
      </p:pic>
      <p:pic>
        <p:nvPicPr>
          <p:cNvPr id="134" name="Google Shape;134;p25" title="Screenshot 2026-05-20 185122.png"/>
          <p:cNvPicPr preferRelativeResize="0"/>
          <p:nvPr/>
        </p:nvPicPr>
        <p:blipFill>
          <a:blip r:embed="rId4">
            <a:alphaModFix/>
          </a:blip>
          <a:stretch>
            <a:fillRect/>
          </a:stretch>
        </p:blipFill>
        <p:spPr>
          <a:xfrm>
            <a:off x="418225" y="3318363"/>
            <a:ext cx="4667250" cy="1438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nvSpPr>
        <p:spPr>
          <a:xfrm>
            <a:off x="399775" y="303900"/>
            <a:ext cx="8523900" cy="47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C. to return five rows starting from the 4th row: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a:solidFill>
                  <a:schemeClr val="dk2"/>
                </a:solidFill>
              </a:rPr>
              <a:t>D. gets the top five employees with the highest salaries</a:t>
            </a:r>
            <a:endParaRPr sz="1100">
              <a:solidFill>
                <a:schemeClr val="dk2"/>
              </a:solidFill>
            </a:endParaRPr>
          </a:p>
          <a:p>
            <a:pPr indent="0" lvl="0" marL="0" rtl="0" algn="l">
              <a:spcBef>
                <a:spcPts val="0"/>
              </a:spcBef>
              <a:spcAft>
                <a:spcPts val="0"/>
              </a:spcAft>
              <a:buNone/>
            </a:pPr>
            <a:r>
              <a:rPr lang="en-GB" sz="1100">
                <a:solidFill>
                  <a:schemeClr val="dk2"/>
                </a:solidFill>
              </a:rPr>
              <a:t>. </a:t>
            </a:r>
            <a:endParaRPr sz="1800">
              <a:solidFill>
                <a:schemeClr val="dk2"/>
              </a:solidFill>
            </a:endParaRPr>
          </a:p>
        </p:txBody>
      </p:sp>
      <p:pic>
        <p:nvPicPr>
          <p:cNvPr id="140" name="Google Shape;140;p26" title="Screenshot 2026-05-20 185158.png"/>
          <p:cNvPicPr preferRelativeResize="0"/>
          <p:nvPr/>
        </p:nvPicPr>
        <p:blipFill>
          <a:blip r:embed="rId3">
            <a:alphaModFix/>
          </a:blip>
          <a:stretch>
            <a:fillRect/>
          </a:stretch>
        </p:blipFill>
        <p:spPr>
          <a:xfrm>
            <a:off x="478500" y="752025"/>
            <a:ext cx="4953000" cy="1543050"/>
          </a:xfrm>
          <a:prstGeom prst="rect">
            <a:avLst/>
          </a:prstGeom>
          <a:noFill/>
          <a:ln>
            <a:noFill/>
          </a:ln>
        </p:spPr>
      </p:pic>
      <p:pic>
        <p:nvPicPr>
          <p:cNvPr id="141" name="Google Shape;141;p26" title="Screenshot 2026-05-20 185229.png"/>
          <p:cNvPicPr preferRelativeResize="0"/>
          <p:nvPr/>
        </p:nvPicPr>
        <p:blipFill>
          <a:blip r:embed="rId4">
            <a:alphaModFix/>
          </a:blip>
          <a:stretch>
            <a:fillRect/>
          </a:stretch>
        </p:blipFill>
        <p:spPr>
          <a:xfrm>
            <a:off x="478488" y="2785938"/>
            <a:ext cx="4105275" cy="1343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nvSpPr>
        <p:spPr>
          <a:xfrm>
            <a:off x="342900" y="230775"/>
            <a:ext cx="8670000" cy="47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E. to get employees who have the 2nd highest salary in the company</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a:solidFill>
                  <a:schemeClr val="dk2"/>
                </a:solidFill>
              </a:rPr>
              <a:t>5)WRITE A QUERY FOR WHERE CLAUSE and COMPARISON OPERATORS :- Syntax of WHERE CLAUSE and COMPARISON OPERATORS:--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a:solidFill>
                  <a:schemeClr val="dk2"/>
                </a:solidFill>
              </a:rPr>
              <a:t> A. adds a new column named credit_hours to the courses table. </a:t>
            </a:r>
            <a:endParaRPr sz="1100">
              <a:solidFill>
                <a:schemeClr val="dk2"/>
              </a:solidFill>
            </a:endParaRPr>
          </a:p>
          <a:p>
            <a:pPr indent="0" lvl="0" marL="0" rtl="0" algn="l">
              <a:spcBef>
                <a:spcPts val="0"/>
              </a:spcBef>
              <a:spcAft>
                <a:spcPts val="0"/>
              </a:spcAft>
              <a:buNone/>
            </a:pPr>
            <a:r>
              <a:rPr lang="en-GB" sz="1100">
                <a:solidFill>
                  <a:schemeClr val="dk2"/>
                </a:solidFill>
              </a:rPr>
              <a:t>ALTER TABLE courses</a:t>
            </a:r>
            <a:endParaRPr sz="1100">
              <a:solidFill>
                <a:schemeClr val="dk2"/>
              </a:solidFill>
            </a:endParaRPr>
          </a:p>
          <a:p>
            <a:pPr indent="0" lvl="0" marL="0" rtl="0" algn="l">
              <a:spcBef>
                <a:spcPts val="0"/>
              </a:spcBef>
              <a:spcAft>
                <a:spcPts val="0"/>
              </a:spcAft>
              <a:buNone/>
            </a:pPr>
            <a:r>
              <a:rPr lang="en-GB" sz="1100">
                <a:solidFill>
                  <a:schemeClr val="dk2"/>
                </a:solidFill>
              </a:rPr>
              <a:t>ADD credit_hours INT;</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rPr lang="en-GB" sz="1100">
                <a:solidFill>
                  <a:schemeClr val="dk2"/>
                </a:solidFill>
              </a:rPr>
              <a:t>B. adds the fee and max_limit columns to the courses table and places these columns after the course_name column. </a:t>
            </a:r>
            <a:endParaRPr sz="1100">
              <a:solidFill>
                <a:schemeClr val="dk2"/>
              </a:solidFill>
            </a:endParaRPr>
          </a:p>
          <a:p>
            <a:pPr indent="0" lvl="0" marL="0" rtl="0" algn="l">
              <a:spcBef>
                <a:spcPts val="0"/>
              </a:spcBef>
              <a:spcAft>
                <a:spcPts val="0"/>
              </a:spcAft>
              <a:buClr>
                <a:schemeClr val="dk1"/>
              </a:buClr>
              <a:buSzPts val="1100"/>
              <a:buFont typeface="Arial"/>
              <a:buNone/>
            </a:pPr>
            <a:r>
              <a:rPr lang="en-GB" sz="1100">
                <a:solidFill>
                  <a:schemeClr val="dk2"/>
                </a:solidFill>
              </a:rPr>
              <a:t>ALTER TABLE courses</a:t>
            </a:r>
            <a:endParaRPr sz="1100">
              <a:solidFill>
                <a:schemeClr val="dk2"/>
              </a:solidFill>
            </a:endParaRPr>
          </a:p>
          <a:p>
            <a:pPr indent="0" lvl="0" marL="0" rtl="0" algn="l">
              <a:spcBef>
                <a:spcPts val="0"/>
              </a:spcBef>
              <a:spcAft>
                <a:spcPts val="0"/>
              </a:spcAft>
              <a:buClr>
                <a:schemeClr val="dk1"/>
              </a:buClr>
              <a:buSzPts val="1100"/>
              <a:buFont typeface="Arial"/>
              <a:buNone/>
            </a:pPr>
            <a:r>
              <a:rPr lang="en-GB" sz="1100">
                <a:solidFill>
                  <a:schemeClr val="dk2"/>
                </a:solidFill>
              </a:rPr>
              <a:t>ADD fee DECIMAL(10,2),</a:t>
            </a:r>
            <a:endParaRPr sz="1100">
              <a:solidFill>
                <a:schemeClr val="dk2"/>
              </a:solidFill>
            </a:endParaRPr>
          </a:p>
          <a:p>
            <a:pPr indent="0" lvl="0" marL="0" rtl="0" algn="l">
              <a:spcBef>
                <a:spcPts val="0"/>
              </a:spcBef>
              <a:spcAft>
                <a:spcPts val="0"/>
              </a:spcAft>
              <a:buClr>
                <a:schemeClr val="dk1"/>
              </a:buClr>
              <a:buSzPts val="1100"/>
              <a:buFont typeface="Arial"/>
              <a:buNone/>
            </a:pPr>
            <a:r>
              <a:rPr lang="en-GB" sz="1100">
                <a:solidFill>
                  <a:schemeClr val="dk2"/>
                </a:solidFill>
              </a:rPr>
              <a:t>    max_limit INT;</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1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47" name="Google Shape;147;p27" title="Screenshot 2026-05-20 185304.png"/>
          <p:cNvPicPr preferRelativeResize="0"/>
          <p:nvPr/>
        </p:nvPicPr>
        <p:blipFill>
          <a:blip r:embed="rId3">
            <a:alphaModFix/>
          </a:blip>
          <a:stretch>
            <a:fillRect/>
          </a:stretch>
        </p:blipFill>
        <p:spPr>
          <a:xfrm>
            <a:off x="434125" y="664000"/>
            <a:ext cx="8116724" cy="891250"/>
          </a:xfrm>
          <a:prstGeom prst="rect">
            <a:avLst/>
          </a:prstGeom>
          <a:noFill/>
          <a:ln>
            <a:noFill/>
          </a:ln>
        </p:spPr>
      </p:pic>
      <p:pic>
        <p:nvPicPr>
          <p:cNvPr id="148" name="Google Shape;148;p27" title="Screenshot 2026-05-20 191952.png"/>
          <p:cNvPicPr preferRelativeResize="0"/>
          <p:nvPr/>
        </p:nvPicPr>
        <p:blipFill>
          <a:blip r:embed="rId4">
            <a:alphaModFix/>
          </a:blip>
          <a:stretch>
            <a:fillRect/>
          </a:stretch>
        </p:blipFill>
        <p:spPr>
          <a:xfrm>
            <a:off x="562300" y="2773250"/>
            <a:ext cx="3638550" cy="685800"/>
          </a:xfrm>
          <a:prstGeom prst="rect">
            <a:avLst/>
          </a:prstGeom>
          <a:noFill/>
          <a:ln>
            <a:noFill/>
          </a:ln>
        </p:spPr>
      </p:pic>
      <p:pic>
        <p:nvPicPr>
          <p:cNvPr id="149" name="Google Shape;149;p27" title="Screenshot 2026-05-20 192032.png"/>
          <p:cNvPicPr preferRelativeResize="0"/>
          <p:nvPr/>
        </p:nvPicPr>
        <p:blipFill>
          <a:blip r:embed="rId5">
            <a:alphaModFix/>
          </a:blip>
          <a:stretch>
            <a:fillRect/>
          </a:stretch>
        </p:blipFill>
        <p:spPr>
          <a:xfrm>
            <a:off x="489413" y="4322775"/>
            <a:ext cx="4638675" cy="685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nvSpPr>
        <p:spPr>
          <a:xfrm>
            <a:off x="302275" y="206400"/>
            <a:ext cx="8548200" cy="47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C. changes the attribute of the fee column to NOT NULL. </a:t>
            </a:r>
            <a:endParaRPr sz="1200">
              <a:solidFill>
                <a:schemeClr val="dk2"/>
              </a:solidFill>
            </a:endParaRPr>
          </a:p>
          <a:p>
            <a:pPr indent="0" lvl="0" marL="0" rtl="0" algn="l">
              <a:spcBef>
                <a:spcPts val="0"/>
              </a:spcBef>
              <a:spcAft>
                <a:spcPts val="0"/>
              </a:spcAft>
              <a:buClr>
                <a:schemeClr val="dk1"/>
              </a:buClr>
              <a:buSzPts val="1100"/>
              <a:buFont typeface="Arial"/>
              <a:buNone/>
            </a:pPr>
            <a:r>
              <a:rPr lang="en-GB" sz="1100">
                <a:solidFill>
                  <a:schemeClr val="dk2"/>
                </a:solidFill>
              </a:rPr>
              <a:t>ALTER TABLE courses</a:t>
            </a:r>
            <a:endParaRPr sz="1100">
              <a:solidFill>
                <a:schemeClr val="dk2"/>
              </a:solidFill>
            </a:endParaRPr>
          </a:p>
          <a:p>
            <a:pPr indent="0" lvl="0" marL="0" rtl="0" algn="l">
              <a:spcBef>
                <a:spcPts val="0"/>
              </a:spcBef>
              <a:spcAft>
                <a:spcPts val="0"/>
              </a:spcAft>
              <a:buNone/>
            </a:pPr>
            <a:r>
              <a:rPr lang="en-GB" sz="1100">
                <a:solidFill>
                  <a:schemeClr val="dk2"/>
                </a:solidFill>
              </a:rPr>
              <a:t>ALTER COLUMN fee DECIMAL(10,2) NOT NULL;</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GB" sz="1200">
                <a:solidFill>
                  <a:schemeClr val="dk2"/>
                </a:solidFill>
              </a:rPr>
              <a:t>D. to remove the fee column of the courses table E. removes the max_limit and credit_hours of the courses table.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Clr>
                <a:schemeClr val="dk1"/>
              </a:buClr>
              <a:buSzPts val="1100"/>
              <a:buFont typeface="Arial"/>
              <a:buNone/>
            </a:pPr>
            <a:r>
              <a:rPr lang="en-GB" sz="1200">
                <a:solidFill>
                  <a:schemeClr val="dk2"/>
                </a:solidFill>
              </a:rPr>
              <a:t>ALTER TABLE courses</a:t>
            </a:r>
            <a:endParaRPr sz="1200">
              <a:solidFill>
                <a:schemeClr val="dk2"/>
              </a:solidFill>
            </a:endParaRPr>
          </a:p>
          <a:p>
            <a:pPr indent="0" lvl="0" marL="0" rtl="0" algn="l">
              <a:spcBef>
                <a:spcPts val="0"/>
              </a:spcBef>
              <a:spcAft>
                <a:spcPts val="0"/>
              </a:spcAft>
              <a:buNone/>
            </a:pPr>
            <a:r>
              <a:rPr lang="en-GB" sz="1200">
                <a:solidFill>
                  <a:schemeClr val="dk2"/>
                </a:solidFill>
              </a:rPr>
              <a:t>DROP COLUMN fee;</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Clr>
                <a:schemeClr val="dk1"/>
              </a:buClr>
              <a:buSzPts val="1100"/>
              <a:buFont typeface="Arial"/>
              <a:buNone/>
            </a:pPr>
            <a:r>
              <a:t/>
            </a:r>
            <a:endParaRPr sz="1200">
              <a:solidFill>
                <a:schemeClr val="dk2"/>
              </a:solidFill>
            </a:endParaRPr>
          </a:p>
          <a:p>
            <a:pPr indent="0" lvl="0" marL="0" rtl="0" algn="l">
              <a:spcBef>
                <a:spcPts val="0"/>
              </a:spcBef>
              <a:spcAft>
                <a:spcPts val="0"/>
              </a:spcAft>
              <a:buNone/>
            </a:pPr>
            <a:r>
              <a:rPr lang="en-GB" sz="1100">
                <a:solidFill>
                  <a:schemeClr val="dk2"/>
                </a:solidFill>
              </a:rPr>
              <a:t>E. removes the max_limit and credit_hours of the courses table. </a:t>
            </a:r>
            <a:endParaRPr sz="1100">
              <a:solidFill>
                <a:schemeClr val="dk2"/>
              </a:solidFill>
            </a:endParaRPr>
          </a:p>
          <a:p>
            <a:pPr indent="0" lvl="0" marL="0" rtl="0" algn="l">
              <a:spcBef>
                <a:spcPts val="0"/>
              </a:spcBef>
              <a:spcAft>
                <a:spcPts val="0"/>
              </a:spcAft>
              <a:buNone/>
            </a:pPr>
            <a:r>
              <a:rPr lang="en-GB" sz="1100">
                <a:solidFill>
                  <a:schemeClr val="dk2"/>
                </a:solidFill>
              </a:rPr>
              <a:t>ALTER TABLE courses</a:t>
            </a:r>
            <a:endParaRPr sz="1100">
              <a:solidFill>
                <a:schemeClr val="dk2"/>
              </a:solidFill>
            </a:endParaRPr>
          </a:p>
          <a:p>
            <a:pPr indent="0" lvl="0" marL="0" rtl="0" algn="l">
              <a:spcBef>
                <a:spcPts val="0"/>
              </a:spcBef>
              <a:spcAft>
                <a:spcPts val="0"/>
              </a:spcAft>
              <a:buNone/>
            </a:pPr>
            <a:r>
              <a:rPr lang="en-GB" sz="1100">
                <a:solidFill>
                  <a:schemeClr val="dk2"/>
                </a:solidFill>
              </a:rPr>
              <a:t>DROP COLUMN max_limit, credit_hours;</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Clr>
                <a:schemeClr val="dk1"/>
              </a:buClr>
              <a:buSzPts val="1100"/>
              <a:buFont typeface="Arial"/>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pic>
        <p:nvPicPr>
          <p:cNvPr id="155" name="Google Shape;155;p28" title="Screenshot 2026-05-20 192108.png"/>
          <p:cNvPicPr preferRelativeResize="0"/>
          <p:nvPr/>
        </p:nvPicPr>
        <p:blipFill>
          <a:blip r:embed="rId3">
            <a:alphaModFix/>
          </a:blip>
          <a:stretch>
            <a:fillRect/>
          </a:stretch>
        </p:blipFill>
        <p:spPr>
          <a:xfrm>
            <a:off x="302263" y="969375"/>
            <a:ext cx="3762375" cy="685800"/>
          </a:xfrm>
          <a:prstGeom prst="rect">
            <a:avLst/>
          </a:prstGeom>
          <a:noFill/>
          <a:ln>
            <a:noFill/>
          </a:ln>
        </p:spPr>
      </p:pic>
      <p:pic>
        <p:nvPicPr>
          <p:cNvPr id="156" name="Google Shape;156;p28" title="Screenshot 2026-05-20 192140.png"/>
          <p:cNvPicPr preferRelativeResize="0"/>
          <p:nvPr/>
        </p:nvPicPr>
        <p:blipFill>
          <a:blip r:embed="rId4">
            <a:alphaModFix/>
          </a:blip>
          <a:stretch>
            <a:fillRect/>
          </a:stretch>
        </p:blipFill>
        <p:spPr>
          <a:xfrm>
            <a:off x="302275" y="2571738"/>
            <a:ext cx="4114800" cy="771525"/>
          </a:xfrm>
          <a:prstGeom prst="rect">
            <a:avLst/>
          </a:prstGeom>
          <a:noFill/>
          <a:ln>
            <a:noFill/>
          </a:ln>
        </p:spPr>
      </p:pic>
      <p:pic>
        <p:nvPicPr>
          <p:cNvPr id="157" name="Google Shape;157;p28" title="Screenshot 2026-05-20 192213.png"/>
          <p:cNvPicPr preferRelativeResize="0"/>
          <p:nvPr/>
        </p:nvPicPr>
        <p:blipFill>
          <a:blip r:embed="rId5">
            <a:alphaModFix/>
          </a:blip>
          <a:stretch>
            <a:fillRect/>
          </a:stretch>
        </p:blipFill>
        <p:spPr>
          <a:xfrm>
            <a:off x="443300" y="3981450"/>
            <a:ext cx="2667000" cy="1162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132925" y="0"/>
            <a:ext cx="8520600" cy="79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Methodologies </a:t>
            </a:r>
            <a:endParaRPr/>
          </a:p>
        </p:txBody>
      </p:sp>
      <p:sp>
        <p:nvSpPr>
          <p:cNvPr id="163" name="Google Shape;163;p29"/>
          <p:cNvSpPr txBox="1"/>
          <p:nvPr>
            <p:ph idx="1" type="body"/>
          </p:nvPr>
        </p:nvSpPr>
        <p:spPr>
          <a:xfrm>
            <a:off x="311700" y="547675"/>
            <a:ext cx="8520600" cy="4395900"/>
          </a:xfrm>
          <a:prstGeom prst="rect">
            <a:avLst/>
          </a:prstGeom>
        </p:spPr>
        <p:txBody>
          <a:bodyPr anchorCtr="0" anchor="t" bIns="91425" lIns="91425" spcFirstLastPara="1" rIns="91425" wrap="square" tIns="91425">
            <a:normAutofit lnSpcReduction="10000"/>
          </a:bodyPr>
          <a:lstStyle/>
          <a:p>
            <a:pPr indent="-298450" lvl="0" marL="457200" rtl="0" algn="l">
              <a:spcBef>
                <a:spcPts val="0"/>
              </a:spcBef>
              <a:spcAft>
                <a:spcPts val="0"/>
              </a:spcAft>
              <a:buClr>
                <a:schemeClr val="dk1"/>
              </a:buClr>
              <a:buSzPts val="1100"/>
              <a:buAutoNum type="arabicPeriod"/>
            </a:pPr>
            <a:r>
              <a:rPr b="1" lang="en-GB" sz="1100">
                <a:solidFill>
                  <a:schemeClr val="dk1"/>
                </a:solidFill>
              </a:rPr>
              <a:t>Database Design</a:t>
            </a:r>
            <a:br>
              <a:rPr b="1" lang="en-GB" sz="1100">
                <a:solidFill>
                  <a:schemeClr val="dk1"/>
                </a:solidFill>
              </a:rPr>
            </a:br>
            <a:r>
              <a:rPr lang="en-GB" sz="1100">
                <a:solidFill>
                  <a:schemeClr val="dk1"/>
                </a:solidFill>
              </a:rPr>
              <a:t> The HR database was designed using a </a:t>
            </a:r>
            <a:r>
              <a:rPr b="1" lang="en-GB" sz="1100">
                <a:solidFill>
                  <a:schemeClr val="dk1"/>
                </a:solidFill>
              </a:rPr>
              <a:t>relational database model</a:t>
            </a:r>
            <a:r>
              <a:rPr lang="en-GB" sz="1100">
                <a:solidFill>
                  <a:schemeClr val="dk1"/>
                </a:solidFill>
              </a:rPr>
              <a:t>, where different tables such as employees, departments, jobs, locations, and dependents are connected using primary and foreign keys.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Data Organization</a:t>
            </a:r>
            <a:br>
              <a:rPr b="1" lang="en-GB" sz="1100">
                <a:solidFill>
                  <a:schemeClr val="dk1"/>
                </a:solidFill>
              </a:rPr>
            </a:br>
            <a:r>
              <a:rPr lang="en-GB" sz="1100">
                <a:solidFill>
                  <a:schemeClr val="dk1"/>
                </a:solidFill>
              </a:rPr>
              <a:t> Data was structured into multiple tables to maintain </a:t>
            </a:r>
            <a:r>
              <a:rPr b="1" lang="en-GB" sz="1100">
                <a:solidFill>
                  <a:schemeClr val="dk1"/>
                </a:solidFill>
              </a:rPr>
              <a:t>data integrity and reduce redundancy</a:t>
            </a:r>
            <a:r>
              <a:rPr lang="en-GB" sz="1100">
                <a:solidFill>
                  <a:schemeClr val="dk1"/>
                </a:solidFill>
              </a:rPr>
              <a:t>. Each table stores specific information such as employee details, department data, and salary records.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SQL Query Implementation</a:t>
            </a:r>
            <a:br>
              <a:rPr b="1" lang="en-GB" sz="1100">
                <a:solidFill>
                  <a:schemeClr val="dk1"/>
                </a:solidFill>
              </a:rPr>
            </a:br>
            <a:r>
              <a:rPr lang="en-GB" sz="1100">
                <a:solidFill>
                  <a:schemeClr val="dk1"/>
                </a:solidFill>
              </a:rPr>
              <a:t> Various SQL queries were used to retrieve and analyze data from the database. These include </a:t>
            </a:r>
            <a:r>
              <a:rPr b="1" lang="en-GB" sz="1100">
                <a:solidFill>
                  <a:schemeClr val="dk1"/>
                </a:solidFill>
              </a:rPr>
              <a:t>SELECT statements, joins, subqueries, and aggregate functions</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Data Analysis Using SQL Functions</a:t>
            </a:r>
            <a:br>
              <a:rPr b="1" lang="en-GB" sz="1100">
                <a:solidFill>
                  <a:schemeClr val="dk1"/>
                </a:solidFill>
              </a:rPr>
            </a:br>
            <a:r>
              <a:rPr lang="en-GB" sz="1100">
                <a:solidFill>
                  <a:schemeClr val="dk1"/>
                </a:solidFill>
              </a:rPr>
              <a:t> Aggregate functions such as </a:t>
            </a:r>
            <a:r>
              <a:rPr b="1" lang="en-GB" sz="1100">
                <a:solidFill>
                  <a:schemeClr val="dk1"/>
                </a:solidFill>
              </a:rPr>
              <a:t>COUNT, SUM, AVG, MIN, and MAX</a:t>
            </a:r>
            <a:r>
              <a:rPr lang="en-GB" sz="1100">
                <a:solidFill>
                  <a:schemeClr val="dk1"/>
                </a:solidFill>
              </a:rPr>
              <a:t> were used to perform analysis like department headcount, salary calculations, and employee distribution.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Use of SQL Clauses</a:t>
            </a:r>
            <a:br>
              <a:rPr b="1" lang="en-GB" sz="1100">
                <a:solidFill>
                  <a:schemeClr val="dk1"/>
                </a:solidFill>
              </a:rPr>
            </a:br>
            <a:r>
              <a:rPr lang="en-GB" sz="1100">
                <a:solidFill>
                  <a:schemeClr val="dk1"/>
                </a:solidFill>
              </a:rPr>
              <a:t> SQL clauses such as </a:t>
            </a:r>
            <a:r>
              <a:rPr b="1" lang="en-GB" sz="1100">
                <a:solidFill>
                  <a:schemeClr val="dk1"/>
                </a:solidFill>
              </a:rPr>
              <a:t>GROUP BY, HAVING, WHERE, and ORDER BY</a:t>
            </a:r>
            <a:r>
              <a:rPr lang="en-GB" sz="1100">
                <a:solidFill>
                  <a:schemeClr val="dk1"/>
                </a:solidFill>
              </a:rPr>
              <a:t> were applied to filter, group, and organize the data for meaningful insights.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Advanced Query Techniques</a:t>
            </a:r>
            <a:br>
              <a:rPr b="1" lang="en-GB" sz="1100">
                <a:solidFill>
                  <a:schemeClr val="dk1"/>
                </a:solidFill>
              </a:rPr>
            </a:br>
            <a:r>
              <a:rPr lang="en-GB" sz="1100">
                <a:solidFill>
                  <a:schemeClr val="dk1"/>
                </a:solidFill>
              </a:rPr>
              <a:t> Advanced SQL features such as </a:t>
            </a:r>
            <a:r>
              <a:rPr b="1" lang="en-GB" sz="1100">
                <a:solidFill>
                  <a:schemeClr val="dk1"/>
                </a:solidFill>
              </a:rPr>
              <a:t>subqueries, CASE expressions, UNION, INTERSECT, EXISTS, and JOIN operations</a:t>
            </a:r>
            <a:r>
              <a:rPr lang="en-GB" sz="1100">
                <a:solidFill>
                  <a:schemeClr val="dk1"/>
                </a:solidFill>
              </a:rPr>
              <a:t> were used to solve complex database queries.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Data Validation and Testing</a:t>
            </a:r>
            <a:br>
              <a:rPr b="1" lang="en-GB" sz="1100">
                <a:solidFill>
                  <a:schemeClr val="dk1"/>
                </a:solidFill>
              </a:rPr>
            </a:br>
            <a:r>
              <a:rPr lang="en-GB" sz="1100">
                <a:solidFill>
                  <a:schemeClr val="dk1"/>
                </a:solidFill>
              </a:rPr>
              <a:t> Queries were tested using sample HR data to ensure accurate results and verify that the database structure works correctly.</a:t>
            </a:r>
            <a:endParaRPr sz="1100">
              <a:solidFill>
                <a:schemeClr val="dk1"/>
              </a:solidFill>
            </a:endParaRPr>
          </a:p>
          <a:p>
            <a:pPr indent="0" lvl="0" marL="45720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230450" y="71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Approaches </a:t>
            </a:r>
            <a:endParaRPr/>
          </a:p>
        </p:txBody>
      </p:sp>
      <p:sp>
        <p:nvSpPr>
          <p:cNvPr id="169" name="Google Shape;169;p30"/>
          <p:cNvSpPr txBox="1"/>
          <p:nvPr>
            <p:ph idx="1" type="body"/>
          </p:nvPr>
        </p:nvSpPr>
        <p:spPr>
          <a:xfrm>
            <a:off x="311700" y="807675"/>
            <a:ext cx="8520600" cy="43359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AutoNum type="arabicPeriod"/>
            </a:pPr>
            <a:r>
              <a:rPr b="1" lang="en-GB" sz="1100">
                <a:solidFill>
                  <a:schemeClr val="dk1"/>
                </a:solidFill>
              </a:rPr>
              <a:t>Relational Database Approach</a:t>
            </a:r>
            <a:br>
              <a:rPr b="1" lang="en-GB" sz="1100">
                <a:solidFill>
                  <a:schemeClr val="dk1"/>
                </a:solidFill>
              </a:rPr>
            </a:br>
            <a:r>
              <a:rPr lang="en-GB" sz="1100">
                <a:solidFill>
                  <a:schemeClr val="dk1"/>
                </a:solidFill>
              </a:rPr>
              <a:t> The project follows a relational database approach where data is organized into related tables such as employees, departments, jobs, and dependents to maintain structured relationships.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Query-Based Data Analysis</a:t>
            </a:r>
            <a:br>
              <a:rPr b="1" lang="en-GB" sz="1100">
                <a:solidFill>
                  <a:schemeClr val="dk1"/>
                </a:solidFill>
              </a:rPr>
            </a:br>
            <a:r>
              <a:rPr lang="en-GB" sz="1100">
                <a:solidFill>
                  <a:schemeClr val="dk1"/>
                </a:solidFill>
              </a:rPr>
              <a:t> SQL queries were used to retrieve and analyze employee data, department details, salary information, and reporting structures from the database.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Join Operations for Data Integration</a:t>
            </a:r>
            <a:br>
              <a:rPr b="1" lang="en-GB" sz="1100">
                <a:solidFill>
                  <a:schemeClr val="dk1"/>
                </a:solidFill>
              </a:rPr>
            </a:br>
            <a:r>
              <a:rPr lang="en-GB" sz="1100">
                <a:solidFill>
                  <a:schemeClr val="dk1"/>
                </a:solidFill>
              </a:rPr>
              <a:t> Different types of joins such as </a:t>
            </a:r>
            <a:r>
              <a:rPr b="1" lang="en-GB" sz="1100">
                <a:solidFill>
                  <a:schemeClr val="dk1"/>
                </a:solidFill>
              </a:rPr>
              <a:t>INNER JOIN, LEFT JOIN, RIGHT JOIN, and CROSS JOIN</a:t>
            </a:r>
            <a:r>
              <a:rPr lang="en-GB" sz="1100">
                <a:solidFill>
                  <a:schemeClr val="dk1"/>
                </a:solidFill>
              </a:rPr>
              <a:t> were used to combine data from multiple tables and generate meaningful insights.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Aggregation and Grouping</a:t>
            </a:r>
            <a:br>
              <a:rPr b="1" lang="en-GB" sz="1100">
                <a:solidFill>
                  <a:schemeClr val="dk1"/>
                </a:solidFill>
              </a:rPr>
            </a:br>
            <a:r>
              <a:rPr lang="en-GB" sz="1100">
                <a:solidFill>
                  <a:schemeClr val="dk1"/>
                </a:solidFill>
              </a:rPr>
              <a:t> Aggregate functions along with </a:t>
            </a:r>
            <a:r>
              <a:rPr b="1" lang="en-GB" sz="1100">
                <a:solidFill>
                  <a:schemeClr val="dk1"/>
                </a:solidFill>
              </a:rPr>
              <a:t>GROUP BY and HAVING clauses</a:t>
            </a:r>
            <a:r>
              <a:rPr lang="en-GB" sz="1100">
                <a:solidFill>
                  <a:schemeClr val="dk1"/>
                </a:solidFill>
              </a:rPr>
              <a:t> were used to summarize data, such as calculating department-wise employee count and salary statistics.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Subquery Approach for Complex Analysis</a:t>
            </a:r>
            <a:br>
              <a:rPr b="1" lang="en-GB" sz="1100">
                <a:solidFill>
                  <a:schemeClr val="dk1"/>
                </a:solidFill>
              </a:rPr>
            </a:br>
            <a:r>
              <a:rPr lang="en-GB" sz="1100">
                <a:solidFill>
                  <a:schemeClr val="dk1"/>
                </a:solidFill>
              </a:rPr>
              <a:t> Subqueries were used to solve complex problems such as identifying employees with salaries higher than the average salary or employees working in specific locations.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Conditional Logic Implementation</a:t>
            </a:r>
            <a:br>
              <a:rPr b="1" lang="en-GB" sz="1100">
                <a:solidFill>
                  <a:schemeClr val="dk1"/>
                </a:solidFill>
              </a:rPr>
            </a:br>
            <a:r>
              <a:rPr lang="en-GB" sz="1100">
                <a:solidFill>
                  <a:schemeClr val="dk1"/>
                </a:solidFill>
              </a:rPr>
              <a:t> SQL </a:t>
            </a:r>
            <a:r>
              <a:rPr b="1" lang="en-GB" sz="1100">
                <a:solidFill>
                  <a:schemeClr val="dk1"/>
                </a:solidFill>
              </a:rPr>
              <a:t>CASE expressions</a:t>
            </a:r>
            <a:r>
              <a:rPr lang="en-GB" sz="1100">
                <a:solidFill>
                  <a:schemeClr val="dk1"/>
                </a:solidFill>
              </a:rPr>
              <a:t> were applied to categorize data, for example classifying employee salaries as Low, Average, or High.</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Result Validation and Optimization</a:t>
            </a:r>
            <a:br>
              <a:rPr b="1" lang="en-GB" sz="1100">
                <a:solidFill>
                  <a:schemeClr val="dk1"/>
                </a:solidFill>
              </a:rPr>
            </a:br>
            <a:r>
              <a:rPr lang="en-GB" sz="1100">
                <a:solidFill>
                  <a:schemeClr val="dk1"/>
                </a:solidFill>
              </a:rPr>
              <a:t> The results of SQL queries were verified and optimized to ensure accurate and efficient data retrieval from the HR database.</a:t>
            </a:r>
            <a:endParaRPr sz="1100">
              <a:solidFill>
                <a:schemeClr val="dk1"/>
              </a:solidFill>
            </a:endParaRPr>
          </a:p>
          <a:p>
            <a:pPr indent="0" lvl="0" marL="45720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262950" y="111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Insights </a:t>
            </a:r>
            <a:endParaRPr/>
          </a:p>
        </p:txBody>
      </p:sp>
      <p:sp>
        <p:nvSpPr>
          <p:cNvPr id="175" name="Google Shape;175;p31"/>
          <p:cNvSpPr txBox="1"/>
          <p:nvPr>
            <p:ph idx="1" type="body"/>
          </p:nvPr>
        </p:nvSpPr>
        <p:spPr>
          <a:xfrm>
            <a:off x="311700" y="612675"/>
            <a:ext cx="8520600" cy="3956100"/>
          </a:xfrm>
          <a:prstGeom prst="rect">
            <a:avLst/>
          </a:prstGeom>
        </p:spPr>
        <p:txBody>
          <a:bodyPr anchorCtr="0" anchor="t" bIns="91425" lIns="91425" spcFirstLastPara="1" rIns="91425" wrap="square" tIns="91425">
            <a:normAutofit lnSpcReduction="10000"/>
          </a:bodyPr>
          <a:lstStyle/>
          <a:p>
            <a:pPr indent="-298450" lvl="0" marL="457200" rtl="0" algn="l">
              <a:spcBef>
                <a:spcPts val="0"/>
              </a:spcBef>
              <a:spcAft>
                <a:spcPts val="0"/>
              </a:spcAft>
              <a:buClr>
                <a:schemeClr val="dk1"/>
              </a:buClr>
              <a:buSzPts val="1100"/>
              <a:buAutoNum type="arabicPeriod"/>
            </a:pPr>
            <a:r>
              <a:rPr b="1" lang="en-GB" sz="1100">
                <a:solidFill>
                  <a:schemeClr val="dk1"/>
                </a:solidFill>
              </a:rPr>
              <a:t>Department Workforce Trends</a:t>
            </a:r>
            <a:br>
              <a:rPr b="1" lang="en-GB" sz="1100">
                <a:solidFill>
                  <a:schemeClr val="dk1"/>
                </a:solidFill>
              </a:rPr>
            </a:br>
            <a:r>
              <a:rPr lang="en-GB" sz="1100">
                <a:solidFill>
                  <a:schemeClr val="dk1"/>
                </a:solidFill>
              </a:rPr>
              <a:t> The analysis revealed that some departments have significantly more employees than others, indicating areas with higher operational workload.</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Salary Distribution Patterns</a:t>
            </a:r>
            <a:br>
              <a:rPr b="1" lang="en-GB" sz="1100">
                <a:solidFill>
                  <a:schemeClr val="dk1"/>
                </a:solidFill>
              </a:rPr>
            </a:br>
            <a:r>
              <a:rPr lang="en-GB" sz="1100">
                <a:solidFill>
                  <a:schemeClr val="dk1"/>
                </a:solidFill>
              </a:rPr>
              <a:t> Salary analysis showed noticeable differences between departments and job roles, helping identify departments with higher compensation levels.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Organizational Hierarchy Understanding</a:t>
            </a:r>
            <a:br>
              <a:rPr b="1" lang="en-GB" sz="1100">
                <a:solidFill>
                  <a:schemeClr val="dk1"/>
                </a:solidFill>
              </a:rPr>
            </a:br>
            <a:r>
              <a:rPr lang="en-GB" sz="1100">
                <a:solidFill>
                  <a:schemeClr val="dk1"/>
                </a:solidFill>
              </a:rPr>
              <a:t> By analyzing manager and employee relationships, the structure of reporting lines within the organization became clearer.</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Dependents and Employee Benefits</a:t>
            </a:r>
            <a:br>
              <a:rPr b="1" lang="en-GB" sz="1100">
                <a:solidFill>
                  <a:schemeClr val="dk1"/>
                </a:solidFill>
              </a:rPr>
            </a:br>
            <a:r>
              <a:rPr lang="en-GB" sz="1100">
                <a:solidFill>
                  <a:schemeClr val="dk1"/>
                </a:solidFill>
              </a:rPr>
              <a:t> The data highlighted which employees have dependents, which can help HR plan employee welfare programs and benefit policies.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Departmental Salary Expenditure</a:t>
            </a:r>
            <a:br>
              <a:rPr b="1" lang="en-GB" sz="1100">
                <a:solidFill>
                  <a:schemeClr val="dk1"/>
                </a:solidFill>
              </a:rPr>
            </a:br>
            <a:r>
              <a:rPr lang="en-GB" sz="1100">
                <a:solidFill>
                  <a:schemeClr val="dk1"/>
                </a:solidFill>
              </a:rPr>
              <a:t> Total salary calculations per department provided insights into how payroll expenses are distributed across the organization.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Location-Based Workforce Insights</a:t>
            </a:r>
            <a:br>
              <a:rPr b="1" lang="en-GB" sz="1100">
                <a:solidFill>
                  <a:schemeClr val="dk1"/>
                </a:solidFill>
              </a:rPr>
            </a:br>
            <a:r>
              <a:rPr lang="en-GB" sz="1100">
                <a:solidFill>
                  <a:schemeClr val="dk1"/>
                </a:solidFill>
              </a:rPr>
              <a:t> Identifying employees based on location helps organizations understand where their workforce is concentrated and supports strategic planning for expansion or resource allocation.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Performance and Compensation Indicators</a:t>
            </a:r>
            <a:br>
              <a:rPr b="1" lang="en-GB" sz="1100">
                <a:solidFill>
                  <a:schemeClr val="dk1"/>
                </a:solidFill>
              </a:rPr>
            </a:br>
            <a:r>
              <a:rPr lang="en-GB" sz="1100">
                <a:solidFill>
                  <a:schemeClr val="dk1"/>
                </a:solidFill>
              </a:rPr>
              <a:t> Categorizing salaries into different levels helps identify employees who may require performance reviews, promotions, or salary adjustments.</a:t>
            </a:r>
            <a:endParaRPr sz="1100">
              <a:solidFill>
                <a:schemeClr val="dk1"/>
              </a:solidFill>
            </a:endParaRPr>
          </a:p>
          <a:p>
            <a:pPr indent="0" lvl="0" marL="45720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254825" y="250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 </a:t>
            </a:r>
            <a:endParaRPr/>
          </a:p>
        </p:txBody>
      </p:sp>
      <p:sp>
        <p:nvSpPr>
          <p:cNvPr id="181" name="Google Shape;181;p32"/>
          <p:cNvSpPr txBox="1"/>
          <p:nvPr>
            <p:ph idx="1" type="body"/>
          </p:nvPr>
        </p:nvSpPr>
        <p:spPr>
          <a:xfrm>
            <a:off x="43550" y="1018950"/>
            <a:ext cx="8520600" cy="3461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GB" sz="1400">
                <a:solidFill>
                  <a:schemeClr val="dk1"/>
                </a:solidFill>
              </a:rPr>
              <a:t>The </a:t>
            </a:r>
            <a:r>
              <a:rPr b="1" lang="en-GB" sz="1400">
                <a:solidFill>
                  <a:schemeClr val="dk1"/>
                </a:solidFill>
              </a:rPr>
              <a:t>HR Database Management System</a:t>
            </a:r>
            <a:r>
              <a:rPr lang="en-GB" sz="1400">
                <a:solidFill>
                  <a:schemeClr val="dk1"/>
                </a:solidFill>
              </a:rPr>
              <a:t> project demonstrates how a relational database can be used to efficiently store, manage, and analyze employee-related information. By using SQL queries and database concepts, the system enables effective retrieval of data related to employees, departments, salaries, dependents, and organizational structure.</a:t>
            </a:r>
            <a:endParaRPr sz="1400">
              <a:solidFill>
                <a:schemeClr val="dk1"/>
              </a:solidFill>
            </a:endParaRPr>
          </a:p>
          <a:p>
            <a:pPr indent="0" lvl="0" marL="0" rtl="0" algn="l">
              <a:spcBef>
                <a:spcPts val="1200"/>
              </a:spcBef>
              <a:spcAft>
                <a:spcPts val="0"/>
              </a:spcAft>
              <a:buClr>
                <a:schemeClr val="dk1"/>
              </a:buClr>
              <a:buSzPts val="1100"/>
              <a:buFont typeface="Arial"/>
              <a:buNone/>
            </a:pPr>
            <a:r>
              <a:rPr lang="en-GB" sz="1400">
                <a:solidFill>
                  <a:schemeClr val="dk1"/>
                </a:solidFill>
              </a:rPr>
              <a:t>Through various SQL operations such as joins, subqueries, aggregate functions, and conditional statements, meaningful insights were generated from the HR data. These analyses help in understanding workforce distribution, salary patterns, department performance, and reporting relationships within the organization.</a:t>
            </a:r>
            <a:endParaRPr sz="1400">
              <a:solidFill>
                <a:schemeClr val="dk1"/>
              </a:solidFill>
            </a:endParaRPr>
          </a:p>
          <a:p>
            <a:pPr indent="0" lvl="0" marL="0" rtl="0" algn="l">
              <a:spcBef>
                <a:spcPts val="1200"/>
              </a:spcBef>
              <a:spcAft>
                <a:spcPts val="0"/>
              </a:spcAft>
              <a:buClr>
                <a:schemeClr val="dk1"/>
              </a:buClr>
              <a:buSzPts val="1100"/>
              <a:buFont typeface="Arial"/>
              <a:buNone/>
            </a:pPr>
            <a:r>
              <a:rPr lang="en-GB" sz="1400">
                <a:solidFill>
                  <a:schemeClr val="dk1"/>
                </a:solidFill>
              </a:rPr>
              <a:t>Overall, the project highlights the importance of database systems in supporting HR decision-making and improving organizational data management. It also strengthens practical knowledge of SQL and database design, which are essential skills for data analysis and database management.</a:t>
            </a:r>
            <a:endParaRPr sz="1400">
              <a:solidFill>
                <a:schemeClr val="dk1"/>
              </a:solidFill>
            </a:endParaRPr>
          </a:p>
          <a:p>
            <a:pPr indent="0" lvl="0" marL="0" rtl="0" algn="l">
              <a:spcBef>
                <a:spcPts val="1200"/>
              </a:spcBef>
              <a:spcAft>
                <a:spcPts val="120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